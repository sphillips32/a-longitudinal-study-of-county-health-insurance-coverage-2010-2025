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BF1C48-6E33-4632-A782-E9728C636FE5}" v="2" dt="2026-08-06T07:49:05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82" y="7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th Phillips" userId="122650bb3724c6da" providerId="LiveId" clId="{C53E2D70-450E-4EA4-962A-84B6927E900E}"/>
    <pc:docChg chg="custSel modSld">
      <pc:chgData name="Seth Phillips" userId="122650bb3724c6da" providerId="LiveId" clId="{C53E2D70-450E-4EA4-962A-84B6927E900E}" dt="2026-08-06T20:04:39.970" v="141" actId="20577"/>
      <pc:docMkLst>
        <pc:docMk/>
      </pc:docMkLst>
      <pc:sldChg chg="modSp mod">
        <pc:chgData name="Seth Phillips" userId="122650bb3724c6da" providerId="LiveId" clId="{C53E2D70-450E-4EA4-962A-84B6927E900E}" dt="2026-08-06T07:49:19.165" v="62" actId="20577"/>
        <pc:sldMkLst>
          <pc:docMk/>
          <pc:sldMk cId="0" sldId="257"/>
        </pc:sldMkLst>
        <pc:spChg chg="mod">
          <ac:chgData name="Seth Phillips" userId="122650bb3724c6da" providerId="LiveId" clId="{C53E2D70-450E-4EA4-962A-84B6927E900E}" dt="2026-08-06T07:49:19.165" v="62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eth Phillips" userId="122650bb3724c6da" providerId="LiveId" clId="{C53E2D70-450E-4EA4-962A-84B6927E900E}" dt="2026-08-06T20:04:39.970" v="141" actId="20577"/>
        <pc:sldMkLst>
          <pc:docMk/>
          <pc:sldMk cId="0" sldId="262"/>
        </pc:sldMkLst>
        <pc:spChg chg="mod">
          <ac:chgData name="Seth Phillips" userId="122650bb3724c6da" providerId="LiveId" clId="{C53E2D70-450E-4EA4-962A-84B6927E900E}" dt="2026-08-06T20:04:39.970" v="141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Seth Phillips" userId="122650bb3724c6da" providerId="LiveId" clId="{C53E2D70-450E-4EA4-962A-84B6927E900E}" dt="2026-08-06T08:08:31.824" v="76" actId="20577"/>
          <ac:spMkLst>
            <pc:docMk/>
            <pc:sldMk cId="0" sldId="262"/>
            <ac:spMk id="13" creationId="{00000000-0000-0000-0000-000000000000}"/>
          </ac:spMkLst>
        </pc:spChg>
      </pc:sldChg>
      <pc:sldChg chg="addSp modSp mod">
        <pc:chgData name="Seth Phillips" userId="122650bb3724c6da" providerId="LiveId" clId="{C53E2D70-450E-4EA4-962A-84B6927E900E}" dt="2026-08-06T08:27:05.038" v="83" actId="13822"/>
        <pc:sldMkLst>
          <pc:docMk/>
          <pc:sldMk cId="0" sldId="268"/>
        </pc:sldMkLst>
        <pc:picChg chg="mod">
          <ac:chgData name="Seth Phillips" userId="122650bb3724c6da" providerId="LiveId" clId="{C53E2D70-450E-4EA4-962A-84B6927E900E}" dt="2026-08-06T08:26:36.981" v="77" actId="1076"/>
          <ac:picMkLst>
            <pc:docMk/>
            <pc:sldMk cId="0" sldId="268"/>
            <ac:picMk id="5" creationId="{00000000-0000-0000-0000-000000000000}"/>
          </ac:picMkLst>
        </pc:picChg>
        <pc:picChg chg="add mod">
          <ac:chgData name="Seth Phillips" userId="122650bb3724c6da" providerId="LiveId" clId="{C53E2D70-450E-4EA4-962A-84B6927E900E}" dt="2026-08-06T08:26:50.963" v="81" actId="14100"/>
          <ac:picMkLst>
            <pc:docMk/>
            <pc:sldMk cId="0" sldId="268"/>
            <ac:picMk id="7" creationId="{FFE0C2A8-57D1-ACE5-B92E-355EF5312AE5}"/>
          </ac:picMkLst>
        </pc:picChg>
        <pc:cxnChg chg="add mod">
          <ac:chgData name="Seth Phillips" userId="122650bb3724c6da" providerId="LiveId" clId="{C53E2D70-450E-4EA4-962A-84B6927E900E}" dt="2026-08-06T08:27:05.038" v="83" actId="13822"/>
          <ac:cxnSpMkLst>
            <pc:docMk/>
            <pc:sldMk cId="0" sldId="268"/>
            <ac:cxnSpMk id="9" creationId="{5B1F5EB3-67B9-05D7-190F-9A8A3425CA75}"/>
          </ac:cxnSpMkLst>
        </pc:cxnChg>
      </pc:sldChg>
      <pc:sldChg chg="modSp mod">
        <pc:chgData name="Seth Phillips" userId="122650bb3724c6da" providerId="LiveId" clId="{C53E2D70-450E-4EA4-962A-84B6927E900E}" dt="2026-08-06T08:32:38.142" v="102" actId="20577"/>
        <pc:sldMkLst>
          <pc:docMk/>
          <pc:sldMk cId="0" sldId="271"/>
        </pc:sldMkLst>
        <pc:spChg chg="mod">
          <ac:chgData name="Seth Phillips" userId="122650bb3724c6da" providerId="LiveId" clId="{C53E2D70-450E-4EA4-962A-84B6927E900E}" dt="2026-08-06T08:32:38.142" v="102" actId="20577"/>
          <ac:spMkLst>
            <pc:docMk/>
            <pc:sldMk cId="0" sldId="271"/>
            <ac:spMk id="3" creationId="{00000000-0000-0000-0000-000000000000}"/>
          </ac:spMkLst>
        </pc:spChg>
        <pc:spChg chg="mod">
          <ac:chgData name="Seth Phillips" userId="122650bb3724c6da" providerId="LiveId" clId="{C53E2D70-450E-4EA4-962A-84B6927E900E}" dt="2026-08-06T08:32:04.401" v="86" actId="33524"/>
          <ac:spMkLst>
            <pc:docMk/>
            <pc:sldMk cId="0" sldId="271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49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6700 INDEPENDENT STUDY  |  SUMMER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Longitudinal Study of County</a:t>
            </a:r>
            <a:endParaRPr lang="en-US" sz="44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Insurance Coverage, 2010–2025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Seth Phillips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Project Is Structured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county-level health insurance coverage in the United States change from 2010 to 2025, and which socioeconomic conditions move alongside it?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486400" cy="14173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not causal. 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quantifies and characterizes patterns in the data. It does not claim to establish cause and effect at any point.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78040" y="1691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20574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construction, national trends, baseline models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788920"/>
            <a:ext cx="457200" cy="457200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Panel Regression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31089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effects, resolving an inconsistency in the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3840480"/>
            <a:ext cx="457200" cy="457200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922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Heterogeneity and Validation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41605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clusters, income splits, Medicaid expansion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Construction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22199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county-year panel from sixteen annual County Health Rankings releases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09067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harmonization and cross-year comparability checks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95935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how the uninsured rate evolved nationally and across places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2E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82803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baseline models: OLS, ridge, and lasso, plus a random forest as a check for nonlinearity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NATIONAL TREND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National Uninsured Rate, 2009–2022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population-weighted uninsured rate fell from about 17 percent to under 10 percent, almost entirely between 2013 and 2016.</a:t>
            </a:r>
            <a:endParaRPr lang="en-US" sz="1400" dirty="0"/>
          </a:p>
        </p:txBody>
      </p:sp>
      <p:pic>
        <p:nvPicPr>
          <p:cNvPr id="5" name="Image 0" descr="/home/claude/pptx_build/images/p1_fig_national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09" y="2286000"/>
            <a:ext cx="869450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A WARNING 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Predictor Did Not Behave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unemployment_rate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only predictor where the single-year relationship (diamond) sits on the opposite side of zero from the pooled relationship (bar).</a:t>
            </a:r>
            <a:endParaRPr lang="en-US" sz="1400" dirty="0"/>
          </a:p>
        </p:txBody>
      </p:sp>
      <p:pic>
        <p:nvPicPr>
          <p:cNvPr id="5" name="Image 0" descr="/home/claude/pptx_build/images/p1_fig_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016" y="2286000"/>
            <a:ext cx="6925489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BASELINE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for Nonlinearity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the linear models by about 0.17 R-squared. Ridge regression separately shrank the </a:t>
            </a:r>
            <a:r>
              <a:rPr lang="en-US" sz="1400" dirty="0">
                <a:solidFill>
                  <a:srgbClr val="2E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pct_white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coefficient by 94 percent, exposing severe multicollinearity among the demographic predictors.</a:t>
            </a:r>
            <a:endParaRPr lang="en-US" sz="1400" dirty="0"/>
          </a:p>
        </p:txBody>
      </p:sp>
      <p:pic>
        <p:nvPicPr>
          <p:cNvPr id="5" name="Image 0" descr="/home/claude/pptx_build/images/p1_w5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00" y="2286000"/>
            <a:ext cx="73335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7889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Scale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04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43,873 county-year observations across 3,142 counties, 2012 to 2025.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7889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56760" y="210312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Predictor Inconsistency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56760" y="2834640"/>
            <a:ext cx="304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unemployment_rate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 = 0.37 pooled across years, but r = -0.08 within a single year.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7889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36280" y="210312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E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Check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6280" y="2834640"/>
            <a:ext cx="304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+0.17 R-squared over linear models. Ridge: 94% shrinkage on </a:t>
            </a:r>
            <a:r>
              <a:rPr lang="en-US" sz="1300" dirty="0">
                <a:solidFill>
                  <a:srgbClr val="2E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pct_white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insurance coverage was clear. But one predictor did not behave consistently depending on how the data was sliced.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PANEL REGRESSION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Isolating Within-County Change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22199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from pooled regression to two-way fixed effects, separating within-county change from cross-county comparison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09067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specifically to resolve the </a:t>
            </a:r>
            <a:r>
              <a:rPr lang="en-US" sz="150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unemployment_rate</a:t>
            </a: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inconsistency found in Part 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95935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Mundlak test to confirm fixed effects was the statistically correct choice, not just a preference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82803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the result with Driscoll-Kraay standard errors, a wider time window, and a descriptive event-time analysis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PART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Pooled vs. Two-Way Fixed Effects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unemployment_rate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reverses sign under fixed effects: pooled coefficient -1.17 percentage points (p &lt; 0.001) becomes +0.37 percentage points (p = 0.030).</a:t>
            </a:r>
            <a:endParaRPr lang="en-US" sz="1400" dirty="0"/>
          </a:p>
        </p:txBody>
      </p:sp>
      <p:pic>
        <p:nvPicPr>
          <p:cNvPr id="5" name="Image 0" descr="/home/claude/pptx_build/images/p2_w6_slide_crop_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148840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PANEL REGRESSION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60320" cy="27889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Finding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unemployment_rate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reverses sign: within the same county over time, rising unemployment is followed by a rising uninsured rate.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560320" cy="27889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1188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Mundlak Test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11880" y="28346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0.0001: fixed effects confirmed as the statistically correct specification.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560320" cy="27889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Driscoll-Kraay 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8346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0.0051: result holds under a robust, cross-sectionally aware standard error.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874520"/>
            <a:ext cx="2560320" cy="27889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8116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Wider Window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81160" y="283464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to 2025: coefficient remains stable outside the original modeling window.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thoroughly validated finding in the project: it survived every check run against it.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HETEROGENEITY AND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Whether the Average Holds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22199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counties by uninsured rate trajectory shape using K-means, selected K by silhouette score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09067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cluster stability across ten random seeds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95935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the highest-uninsured counties against the rest of the sample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82803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the Part 2 model separately by income tercile, then ran a logistic regression connecting cluster membership to Medicaid expansion status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TRAJECTORY CLUSTERS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Coverage Trajectory Shapes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decliners, a sharp-drop-then-plateau majority, and a smaller group of 271 counties whose coverage gains partially reversed after 2019.</a:t>
            </a:r>
            <a:endParaRPr lang="en-US" sz="1400" dirty="0"/>
          </a:p>
        </p:txBody>
      </p:sp>
      <p:pic>
        <p:nvPicPr>
          <p:cNvPr id="5" name="Image 0" descr="/home/claude/pptx_build/images/p3_w10_cluster_traject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884" y="2286000"/>
            <a:ext cx="6957753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INCOME TERCILES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Reversal Is Not Universal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unemployment_rate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significant in low-income counties (-0.10 percentage points, p = 0.681), but is significant in mid- (+0.36 percentage points, p = 0.048) and high-income counties (+0.49 percentage points, p &lt; 0.001).</a:t>
            </a:r>
            <a:endParaRPr lang="en-US" sz="1400" dirty="0"/>
          </a:p>
        </p:txBody>
      </p:sp>
      <p:pic>
        <p:nvPicPr>
          <p:cNvPr id="5" name="Image 0" descr="/home/claude/pptx_build/images/p3_w10_income_tercile_slide_crop_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94560"/>
            <a:ext cx="5120640" cy="4389120"/>
          </a:xfrm>
          <a:prstGeom prst="rect">
            <a:avLst/>
          </a:prstGeom>
        </p:spPr>
      </p:pic>
      <p:pic>
        <p:nvPicPr>
          <p:cNvPr id="7" name="Image 0" descr="/home/claude/pptx_build/images/p2_w6_slide_crop_pp.png">
            <a:extLst>
              <a:ext uri="{FF2B5EF4-FFF2-40B4-BE49-F238E27FC236}">
                <a16:creationId xmlns:a16="http://schemas.microsoft.com/office/drawing/2014/main" id="{FFE0C2A8-57D1-ACE5-B92E-355EF5312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194560"/>
            <a:ext cx="5581426" cy="418607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1F5EB3-67B9-05D7-190F-9A8A3425CA75}"/>
              </a:ext>
            </a:extLst>
          </p:cNvPr>
          <p:cNvCxnSpPr>
            <a:stCxn id="4" idx="2"/>
          </p:cNvCxnSpPr>
          <p:nvPr/>
        </p:nvCxnSpPr>
        <p:spPr>
          <a:xfrm>
            <a:off x="6080760" y="2194560"/>
            <a:ext cx="15240" cy="43891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MEDICAID EXPANSION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 Status Predicts Reversal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Non-expansion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counties have roughly 3 times the odds of falling into the reversal cluster (95% CI: 2.15 to 3.93), controlling for income, poverty, education, and rurality.</a:t>
            </a:r>
            <a:endParaRPr lang="en-US" sz="1400" dirty="0"/>
          </a:p>
        </p:txBody>
      </p:sp>
      <p:pic>
        <p:nvPicPr>
          <p:cNvPr id="5" name="Image 0" descr="/home/claude/pptx_build/images/p3_w10_reversal_logit_od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2148840"/>
            <a:ext cx="58521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HETEROGENEITY AND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7889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Reversal Cluster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04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 counties with post-2019 coverage reversal. 40% non-expansion share, vs. 20% in the other clusters.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7889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56760" y="210312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Split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56760" y="2834640"/>
            <a:ext cx="304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unemployment_rate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reversal is concentrated in mid- and high-income counties.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788920"/>
          </a:xfrm>
          <a:prstGeom prst="rect">
            <a:avLst/>
          </a:prstGeom>
          <a:solidFill>
            <a:srgbClr val="F7F8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36280" y="2103120"/>
            <a:ext cx="304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 Odds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6280" y="2834640"/>
            <a:ext cx="304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Non-expansion counties: ~3x the odds of falling into the reversal cluster, holding other factors constant.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analyses, trajectory shape, income subgroup, and expansion status, all pointed in the same direction: the pooled and fixed-effects results describe an average that does not hold for every county.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part of this project exists because the previous part's result turned out to be an average hiding something that mattered.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251460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pooled correlation hid a shared national time trend.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1729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77440" y="3172968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fixed-effects coefficient, the project's most validated result, hid an income-dependent split.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83133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3831336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averaging and asked for whom each result was actually true.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solidFill>
            <a:srgbClr val="2735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50749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project's real finding is not any single coefficient. It is a demonstration that an average result cannot be trusted until you try to break it apart and see if it still holds.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3383280"/>
            <a:ext cx="29260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Longitudinal Study of County Health Insurance Coverage, 2010–2025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Seth Phillips  |  DATA 6700 Independent Study  |  Summer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sphillips32/A-Longitudinal-Study-of-County-Health-Insurance-Coverage-2010-2025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1032</Words>
  <Application>Microsoft Office PowerPoint</Application>
  <PresentationFormat>Widescreen</PresentationFormat>
  <Paragraphs>131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>Seth Phillips</cp:lastModifiedBy>
  <cp:revision>2</cp:revision>
  <dcterms:created xsi:type="dcterms:W3CDTF">2026-08-06T04:58:10Z</dcterms:created>
  <dcterms:modified xsi:type="dcterms:W3CDTF">2026-08-06T20:04:44Z</dcterms:modified>
</cp:coreProperties>
</file>